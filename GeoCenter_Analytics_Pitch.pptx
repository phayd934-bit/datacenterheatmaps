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371600"/>
            <a:ext cx="4114800" cy="4114800"/>
          </a:xfrm>
          <a:prstGeom prst="ellipse">
            <a:avLst/>
          </a:prstGeom>
          <a:solidFill>
            <a:srgbClr val="13507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3200400"/>
            <a:ext cx="3200400" cy="3200400"/>
          </a:xfrm>
          <a:prstGeom prst="ellipse">
            <a:avLst/>
          </a:prstGeom>
          <a:solidFill>
            <a:srgbClr val="13507A">
              <a:alpha val="3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572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8EAF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GeoCenter Analytics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Assessment for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Centre Cooling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4290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&amp; Immersion Cooling Opportunity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 |  United States  |  Europe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Haydock  &amp;  Mel Resende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4480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partnership with Solar Steam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OPPORTUNITY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5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workloads are pushing traditional air cooling past its limits. Facilities at PUE 1.5+ are haemorrhaging energy and capital.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37360"/>
            <a:ext cx="2468880" cy="45720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2011680"/>
            <a:ext cx="502920" cy="502920"/>
          </a:xfrm>
          <a:prstGeom prst="ellipse">
            <a:avLst/>
          </a:prstGeom>
          <a:solidFill>
            <a:srgbClr val="EEF4F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084832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2651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Focus Regions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97180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5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Canada, United States, and Europe — with additional opportunities identified beyond these boundaries.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29000" y="17373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29000" y="1737360"/>
            <a:ext cx="2468880" cy="45720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13" name="Shape 10"/>
          <p:cNvSpPr/>
          <p:nvPr/>
        </p:nvSpPr>
        <p:spPr>
          <a:xfrm>
            <a:off x="3749040" y="2011680"/>
            <a:ext cx="502920" cy="502920"/>
          </a:xfrm>
          <a:prstGeom prst="ellipse">
            <a:avLst/>
          </a:prstGeom>
          <a:solidFill>
            <a:srgbClr val="EEF4F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192" y="2084832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0" y="2651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Segment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57600" y="297180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5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centres up to 10 MW — the mid-market where adoption is accelerating but intelligence is scarce. Hyperscalers fall outside scope.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7373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737360"/>
            <a:ext cx="2468880" cy="45720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19" name="Shape 15"/>
          <p:cNvSpPr/>
          <p:nvPr/>
        </p:nvSpPr>
        <p:spPr>
          <a:xfrm>
            <a:off x="6537960" y="2011680"/>
            <a:ext cx="502920" cy="502920"/>
          </a:xfrm>
          <a:prstGeom prst="ellipse">
            <a:avLst/>
          </a:prstGeom>
          <a:solidFill>
            <a:srgbClr val="EEF4F8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2084832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46520" y="2651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Cooling Technology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46520" y="297180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5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and immersion cooling achieving PUE of 1.04 to 1.2. Air-cooled facilities meeting other criteria also identified as potential customers.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GeoCenter Analytics  |  In partnership with Solar Steam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SIZING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3931920" cy="1143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051560"/>
            <a:ext cx="3566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TAM — Total Addressable Market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D6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 centre that could theoretically adopt advanced cooling across Canada, USA, and Europe.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3931920" cy="1143000"/>
          </a:xfrm>
          <a:prstGeom prst="rect">
            <a:avLst/>
          </a:prstGeom>
          <a:solidFill>
            <a:srgbClr val="13507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3566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 — Serviceable Addressable Market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D6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we can realistically reach given current technology and infrastructure.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474720"/>
            <a:ext cx="3931920" cy="1143000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520440"/>
            <a:ext cx="3566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 — Serviceable Obtainable Market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D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high-quality opportunities actionable today or in the near future.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0" y="960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Market Snapshot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3258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9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$10.8B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50292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data centre cooling market (2025) — CAGR 15.1%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2194560"/>
            <a:ext cx="3200400" cy="13716"/>
          </a:xfrm>
          <a:prstGeom prst="rect">
            <a:avLst/>
          </a:prstGeom>
          <a:solidFill>
            <a:srgbClr val="D0D8E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2331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$5.52B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09360" y="2331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Cooling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A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22.65% through 2031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27889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26.6%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309360" y="2788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Immersion Cooling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A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— fastest-growing segment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0" y="3246120"/>
            <a:ext cx="3200400" cy="13716"/>
          </a:xfrm>
          <a:prstGeom prst="rect">
            <a:avLst/>
          </a:prstGeom>
          <a:solidFill>
            <a:srgbClr val="D0D8E0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3383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40.3%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309360" y="3383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A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global immersion cooling market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840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28%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3840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6A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global market share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0" y="4297680"/>
            <a:ext cx="3657600" cy="411480"/>
          </a:xfrm>
          <a:prstGeom prst="rect">
            <a:avLst/>
          </a:prstGeom>
          <a:solidFill>
            <a:srgbClr val="EEF4F8"/>
          </a:solidFill>
          <a:ln/>
        </p:spPr>
      </p:sp>
      <p:sp>
        <p:nvSpPr>
          <p:cNvPr id="24" name="Text 22"/>
          <p:cNvSpPr/>
          <p:nvPr/>
        </p:nvSpPr>
        <p:spPr>
          <a:xfrm>
            <a:off x="5166360" y="432511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PUE: 1.04 – 1.2  </a:t>
            </a:r>
            <a:pPr indent="0" marL="0">
              <a:buNone/>
            </a:pPr>
            <a:r>
              <a:rPr lang="en-US" sz="950" dirty="0">
                <a:solidFill>
                  <a:srgbClr val="3A5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Liquid: 1.1–1.2  |  Immersion: 1.02–1.10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Mordor Intelligence (2025–2031)  |  Segmented by region, capacity, and colour-coded for presentation.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3507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474720"/>
            <a:ext cx="2743200" cy="2743200"/>
          </a:xfrm>
          <a:prstGeom prst="ellipse">
            <a:avLst/>
          </a:prstGeom>
          <a:solidFill>
            <a:srgbClr val="13507A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960120"/>
            <a:ext cx="1097280" cy="36576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325880"/>
            <a:ext cx="109728" cy="109728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2344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Serviceable &amp; Addressable Market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5087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TAM, SAM, and SOM mapped across Canada, USA, and Europe — divided by colour, gigawatts, and location.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075688"/>
            <a:ext cx="109728" cy="109728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19842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 PUE Improvement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225856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efficiency gains achievable through liquid and immersion cooling adoption.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825496"/>
            <a:ext cx="109728" cy="109728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27340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 Map (Coming Next)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3008376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geographic visualization of the serviceable obtainable market — ready for follow-up.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09728" cy="109728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4838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Broader Opportunities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3758184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E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has uncovered opportunities outside core boundaries, including air-cooled facilities and other regions — a compelling trail into our wider portfolio.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4348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1B9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future of data centre infrastructure is liquid-cooled.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1B9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companies that map this market first will own it.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GeoCenter Analytics - Market Assessment</dc:title>
  <dc:subject>PptxGenJS Presentation</dc:subject>
  <dc:creator>GeoCenter Analytics</dc:creator>
  <cp:lastModifiedBy>GeoCenter Analytics</cp:lastModifiedBy>
  <cp:revision>1</cp:revision>
  <dcterms:created xsi:type="dcterms:W3CDTF">2026-04-09T17:40:13Z</dcterms:created>
  <dcterms:modified xsi:type="dcterms:W3CDTF">2026-04-09T17:40:13Z</dcterms:modified>
</cp:coreProperties>
</file>