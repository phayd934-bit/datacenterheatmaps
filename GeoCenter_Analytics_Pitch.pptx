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114800" cy="4114800"/>
          </a:xfrm>
          <a:prstGeom prst="ellipse">
            <a:avLst/>
          </a:prstGeom>
          <a:solidFill>
            <a:srgbClr val="13507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3507A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EAF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GeoCenter Analytics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Assessment for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Centre Cooling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&amp; Immersion Cooling Opportunity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 |  United States  |  Europe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Haydock  &amp;  Mel Resende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partnership with Solar Steam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workloads are pushing traditional air cooling past its limits. Facilities at PUE 1.5+ are haemorrhaging energy and capital.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2468880" cy="457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011680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Regions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9718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Canada, United States, and Europe — with additional opportunities identified beyond these boundaries.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17373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737360"/>
            <a:ext cx="2468880" cy="457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3" name="Shape 10"/>
          <p:cNvSpPr/>
          <p:nvPr/>
        </p:nvSpPr>
        <p:spPr>
          <a:xfrm>
            <a:off x="3749040" y="2011680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0848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Segment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29718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up to 10 MW — the mid-market where adoption is accelerating but intelligence is scarce. Hyperscalers fall outside scope.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7373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737360"/>
            <a:ext cx="2468880" cy="457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9" name="Shape 15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0848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Cooling Technology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46520" y="29718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and immersion cooling achieving PUE of 1.04 to 1.2. Air-cooled facilities meeting other criteria also identified as potential customers.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GeoCenter Analytics  |  In partnership with Solar Steam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9319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— Total Addressable Market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D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centre that could theoretically adopt advanced cooling across Canada, USA, and Europe.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931920" cy="1143000"/>
          </a:xfrm>
          <a:prstGeom prst="rect">
            <a:avLst/>
          </a:prstGeom>
          <a:solidFill>
            <a:srgbClr val="1350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— Serviceable Addressable Market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D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we can realistically reach given current technology and infrastructure.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3931920" cy="11430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204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— Serviceable Obtainable Market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high-quality opportunities actionable today or in the near future.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Market Snapshot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$6.65B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liquid cooling market (2025)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3200400" cy="13716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immersion cooling 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$1.3B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Liquid Cooling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3520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market share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069080"/>
            <a:ext cx="3657600" cy="54864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PUE: 1.04 – 1.2  </a:t>
            </a:r>
            <a:pPr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Liquid: 1.1–1.2  |  Immersion: 1.02–1.10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region, capacity, and colour-coded for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3507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3507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09728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109728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234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Serviceable &amp; Addressable Market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TAM, SAM, and SOM mapped across Canada, USA, and Europe — divided by colour, gigawatts, and location.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9728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984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PUE Improvement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efficiency gains achievable through liquid and immersion cooling adoption.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825496"/>
            <a:ext cx="109728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7340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 Map (Coming Next)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geographic visualization of the serviceable obtainable market — ready for follow-up.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109728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Broader Opportunities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75818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has uncovered opportunities outside core boundaries, including air-cooled facilities and other regions — a compelling trail into our wider portfolio.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data centre infrastructure is liquid-cooled.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companies that map this market first will own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GeoCenter Analytics - Market Assessment</dc:title>
  <dc:subject>PptxGenJS Presentation</dc:subject>
  <dc:creator>GeoCenter Analytics</dc:creator>
  <cp:lastModifiedBy>GeoCenter Analytics</cp:lastModifiedBy>
  <cp:revision>1</cp:revision>
  <dcterms:created xsi:type="dcterms:W3CDTF">2026-04-09T16:55:40Z</dcterms:created>
  <dcterms:modified xsi:type="dcterms:W3CDTF">2026-04-09T16:55:40Z</dcterms:modified>
</cp:coreProperties>
</file>